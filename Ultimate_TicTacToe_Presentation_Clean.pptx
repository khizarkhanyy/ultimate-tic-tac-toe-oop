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0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94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4A261"/>
                </a:solidFill>
              </a:rPr>
              <a:t>✕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75320" y="137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4A261"/>
                </a:solidFill>
              </a:rPr>
              <a:t>✕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772400" y="3200400"/>
            <a:ext cx="1097280" cy="1097280"/>
          </a:xfrm>
          <a:prstGeom prst="ellipse">
            <a:avLst/>
          </a:prstGeom>
          <a:solidFill>
            <a:srgbClr val="00B4D8">
              <a:alpha val="1000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250" dirty="0">
                <a:solidFill>
                  <a:srgbClr val="9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ORIENTED PROGRAMMING  ·  CS112L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kern="0" spc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TIC-TAC-TOE</a:t>
            </a:r>
            <a:endParaRPr lang="en-US" sz="5800" dirty="0"/>
          </a:p>
        </p:txBody>
      </p:sp>
      <p:sp>
        <p:nvSpPr>
          <p:cNvPr id="9" name="Shape 7"/>
          <p:cNvSpPr/>
          <p:nvPr/>
        </p:nvSpPr>
        <p:spPr>
          <a:xfrm>
            <a:off x="1828800" y="2606040"/>
            <a:ext cx="548640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88920"/>
            <a:ext cx="1828800" cy="1051560"/>
          </a:xfrm>
          <a:prstGeom prst="rect">
            <a:avLst/>
          </a:prstGeom>
          <a:solidFill>
            <a:srgbClr val="182E4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7200" y="3017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Khizar Alam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2788920"/>
            <a:ext cx="1828800" cy="1051560"/>
          </a:xfrm>
          <a:prstGeom prst="rect">
            <a:avLst/>
          </a:prstGeom>
          <a:solidFill>
            <a:srgbClr val="182E4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14600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14600" y="3017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 Sabahat Ajaz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2788920"/>
            <a:ext cx="1828800" cy="1051560"/>
          </a:xfrm>
          <a:prstGeom prst="rect">
            <a:avLst/>
          </a:prstGeom>
          <a:solidFill>
            <a:srgbClr val="182E4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72000" y="3017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Lab  ·  CS112L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29400" y="2788920"/>
            <a:ext cx="1828800" cy="1051560"/>
          </a:xfrm>
          <a:prstGeom prst="rect">
            <a:avLst/>
          </a:prstGeom>
          <a:solidFill>
            <a:srgbClr val="182E48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283464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629400" y="30175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2502879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University Islamabad  ·  Department of Creative Technologies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build="allAtOnce" animBg="1"/>
      <p:bldP spid="8" grpId="0" build="allAtOnce" animBg="1"/>
      <p:bldP spid="11" grpId="0" animBg="1"/>
      <p:bldP spid="12" grpId="0" animBg="1"/>
      <p:bldP spid="14" grpId="0" animBg="1"/>
      <p:bldP spid="15" grpId="0" animBg="1"/>
      <p:bldP spid="17" grpId="0" animBg="1"/>
      <p:bldP spid="18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60520" cy="1097280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51560"/>
            <a:ext cx="54864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11430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15270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&amp; Ultimate Tic-Tac-Toe rules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800600" y="1051560"/>
            <a:ext cx="4160520" cy="1097280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051560"/>
            <a:ext cx="54864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247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0" y="114300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Design &amp; OOP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15270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Encapsulation, dynamic memory, operators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331720"/>
            <a:ext cx="4160520" cy="1097280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31720"/>
            <a:ext cx="54864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51560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8072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N×N board, win detection, save/load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2331720"/>
            <a:ext cx="4160520" cy="1097280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331720"/>
            <a:ext cx="54864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86400" y="242316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Game Logic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0" y="280720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meta-grid, board routing, big board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611880"/>
            <a:ext cx="4160520" cy="1097280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611880"/>
            <a:ext cx="54864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85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51560" y="37033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&amp; Output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51560" y="40873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of working executable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3611880"/>
            <a:ext cx="4160520" cy="1097280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611880"/>
            <a:ext cx="54864" cy="10972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685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86400" y="370332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Learnings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486400" y="40873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mgmt, operator overloading, file I/O</a:t>
            </a:r>
            <a:endParaRPr lang="en-US" sz="105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2" grpId="0" animBg="1"/>
      <p:bldP spid="33" grpId="0" animBg="1"/>
      <p:bldP spid="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Classic Challenges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3840480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4160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14300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1704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N×N Tic-Tac-Toe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37947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N×N board (N ≥ 3) driven by user input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players alternate placing X and 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by filling any row, column, or diagonal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if board fills with no winner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resume game via BasicGame.txt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using class ticTacToe with dynamic 2D array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160520" cy="3840480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005840"/>
            <a:ext cx="416052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1143000"/>
            <a:ext cx="502920" cy="5029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23560" y="1170432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Tic-Tac-Toe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92040" y="1600200"/>
            <a:ext cx="37947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meta-grid of nine 3×3 small boards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in small board determined by opponent's last move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a small board → claim that cell on the Big Board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three cells in a row on big board to win overall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resume via UltimateGame.txt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array of ticTacToe objects (composition)</a:t>
            </a:r>
            <a:endParaRPr lang="en-US" sz="11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  <p:bldP spid="9" grpId="0" animBg="1"/>
      <p:bldP spid="10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DESIGN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Concepts in Action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023360" cy="3931920"/>
          </a:xfrm>
          <a:prstGeom prst="rect">
            <a:avLst/>
          </a:prstGeom>
          <a:solidFill>
            <a:srgbClr val="080F1A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7899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C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  ticTacToe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1480" y="1426464"/>
            <a:ext cx="3657600" cy="0"/>
          </a:xfrm>
          <a:prstGeom prst="line">
            <a:avLst/>
          </a:prstGeom>
          <a:noFill/>
          <a:ln w="12700">
            <a:solidFill>
              <a:srgbClr val="1E35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90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Members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2920" y="1764792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char**  board   → dynamic 2D array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  N       → board size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B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  moves   → move counter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496312"/>
            <a:ext cx="3657600" cy="0"/>
          </a:xfrm>
          <a:prstGeom prst="line">
            <a:avLst/>
          </a:prstGeom>
          <a:noFill/>
          <a:ln w="12700">
            <a:solidFill>
              <a:srgbClr val="1E35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42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Methods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834640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ticTacToe()               // default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ticTacToe(int N)          // param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ticTacToe(const&amp; other)   // copy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~ticTacToe()              // destructor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getMove(char player)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checkWinner() → char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isFull()      → bool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8D8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operator&lt;&lt; / operator&gt;&gt;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1005840"/>
            <a:ext cx="4297680" cy="868680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188720"/>
            <a:ext cx="457200" cy="4572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106070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285232" y="140817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board data, public interface only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0" y="1993392"/>
            <a:ext cx="4297680" cy="868680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176272"/>
            <a:ext cx="457200" cy="457200"/>
          </a:xfrm>
          <a:prstGeom prst="ellipse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20482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Memory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85232" y="239572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/ delete[][] with deep copy &amp; destructor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0" y="2980944"/>
            <a:ext cx="4297680" cy="868680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3163824"/>
            <a:ext cx="457200" cy="457200"/>
          </a:xfrm>
          <a:prstGeom prst="ellipse">
            <a:avLst/>
          </a:prstGeom>
          <a:solidFill>
            <a:srgbClr val="2EC4B6">
              <a:alpha val="15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30358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Overload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85232" y="33832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cout&lt;&lt;, ofstream&lt;&lt;, ifstream&gt;&gt; for I/O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0" y="3968496"/>
            <a:ext cx="4297680" cy="868680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4151376"/>
            <a:ext cx="457200" cy="4572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4023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85232" y="437083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class holds ticTacToe board[3][3]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9" grpId="0" animBg="1"/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  <p:bldP spid="23" grpId="0" animBg="1"/>
      <p:bldP spid="24" grpId="0" animBg="1"/>
      <p:bldP spid="27" grpId="0" animBg="1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Game Can 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261872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54864" cy="12618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389888"/>
            <a:ext cx="457200" cy="4572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389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⊞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N×N 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any size N ≥ 3. Dynamic 2D char** board allocated at runtime, freed safely by destructor.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206240" cy="1261872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005840"/>
            <a:ext cx="54864" cy="12618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389888"/>
            <a:ext cx="457200" cy="457200"/>
          </a:xfrm>
          <a:prstGeom prst="ellipse">
            <a:avLst/>
          </a:prstGeom>
          <a:solidFill>
            <a:srgbClr val="2EC4B6">
              <a:alpha val="2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13898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40680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Detection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0680" y="14630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row, column, main diagonal, and anti-diagonal after each move. Returns 'X' or 'O' instantly.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95728"/>
            <a:ext cx="4206240" cy="1261872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95728"/>
            <a:ext cx="54864" cy="12618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2779776"/>
            <a:ext cx="457200" cy="457200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27797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⚯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24871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85292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getMove() loops until a valid, in-bounds, unoccupied cell is chosen — no crashes from bad input.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395728"/>
            <a:ext cx="4206240" cy="1261872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395728"/>
            <a:ext cx="54864" cy="12618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2779776"/>
            <a:ext cx="457200" cy="4572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7797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⇆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40680" y="248716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Load (File I/O)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40680" y="2852928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ofstream&lt;&lt; writes board state; ifstream&gt;&gt; reconstructs it. Players resume mid-game from BasicGame.txt.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785616"/>
            <a:ext cx="4206240" cy="1261872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785616"/>
            <a:ext cx="54864" cy="12618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169664"/>
            <a:ext cx="457200" cy="457200"/>
          </a:xfrm>
          <a:prstGeom prst="ellipse">
            <a:avLst/>
          </a:prstGeom>
          <a:solidFill>
            <a:srgbClr val="2EC4B6">
              <a:alpha val="20000"/>
            </a:srgbClr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41696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0120" y="38770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Copy Constructor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0120" y="4242816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independent copy of board array — no shared pointers, no dangling references between objects.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3785616"/>
            <a:ext cx="4206240" cy="1261872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785616"/>
            <a:ext cx="54864" cy="12618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92040" y="4169664"/>
            <a:ext cx="457200" cy="457200"/>
          </a:xfrm>
          <a:prstGeom prst="ellipse">
            <a:avLst/>
          </a:prstGeom>
          <a:solidFill>
            <a:srgbClr val="F4A261">
              <a:alpha val="2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73752" y="416966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☰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40680" y="38770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Output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40680" y="4242816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operator&lt;&lt; prints a formatted grid with row/col numbers and dividers to any ostream (cout or file).</a:t>
            </a:r>
            <a:endParaRPr lang="en-US" sz="10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  <p:bldP spid="9" grpId="0" animBg="1"/>
      <p:bldP spid="10" grpId="0" animBg="1"/>
      <p:bldP spid="14" grpId="0" animBg="1"/>
      <p:bldP spid="15" grpId="0" animBg="1"/>
      <p:bldP spid="16" grpId="0" animBg="1"/>
      <p:bldP spid="20" grpId="0" animBg="1"/>
      <p:bldP spid="21" grpId="0" animBg="1"/>
      <p:bldP spid="22" grpId="0" animBg="1"/>
      <p:bldP spid="26" grpId="0" animBg="1"/>
      <p:bldP spid="27" grpId="0" animBg="1"/>
      <p:bldP spid="28" grpId="0" animBg="1"/>
      <p:bldP spid="32" grpId="0" animBg="1"/>
      <p:bldP spid="33" grpId="0" animBg="1"/>
      <p:bldP spid="34" grpId="0" animBg="1"/>
      <p:bldP spid="38" grpId="0" animBg="1"/>
      <p:bldP spid="39" grpId="0" animBg="1"/>
      <p:bldP spid="4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GAME LOGIC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Ultimate Mode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 Meta-Grid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small 3×3 ticTacToe boards form one large playing field.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3776" y="1572768"/>
            <a:ext cx="0" cy="25603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883664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83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181051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Routing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176272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Opponent's cell (row,col) sends you to board[row][col] next turn.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93776" y="2377440"/>
            <a:ext cx="0" cy="25603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2688336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88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61518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Board Win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980944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a small board → mark that cell on the Big Board Status grid.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93776" y="3182112"/>
            <a:ext cx="0" cy="25603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493008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41985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Victory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785616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three cells in a row on the big board to claim ultimate victory.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" y="3986784"/>
            <a:ext cx="0" cy="25603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29768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8680" y="4224528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/ Resume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4590288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E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state serialized to UltimateGame.txt — reload anytime.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17920" y="9144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Board Status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1325880"/>
            <a:ext cx="731520" cy="731520"/>
          </a:xfrm>
          <a:prstGeom prst="rect">
            <a:avLst/>
          </a:prstGeom>
          <a:solidFill>
            <a:srgbClr val="1E3552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086600" y="1325880"/>
            <a:ext cx="731520" cy="731520"/>
          </a:xfrm>
          <a:prstGeom prst="rect">
            <a:avLst/>
          </a:prstGeom>
          <a:solidFill>
            <a:srgbClr val="1E3552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63840" y="1325880"/>
            <a:ext cx="731520" cy="731520"/>
          </a:xfrm>
          <a:prstGeom prst="rect">
            <a:avLst/>
          </a:prstGeom>
          <a:solidFill>
            <a:srgbClr val="00B4D8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6309360" y="2103120"/>
            <a:ext cx="731520" cy="731520"/>
          </a:xfrm>
          <a:prstGeom prst="rect">
            <a:avLst/>
          </a:prstGeom>
          <a:solidFill>
            <a:srgbClr val="1E3552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86600" y="2103120"/>
            <a:ext cx="731520" cy="731520"/>
          </a:xfrm>
          <a:prstGeom prst="rect">
            <a:avLst/>
          </a:prstGeom>
          <a:solidFill>
            <a:srgbClr val="1E3552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63840" y="2103120"/>
            <a:ext cx="731520" cy="731520"/>
          </a:xfrm>
          <a:prstGeom prst="rect">
            <a:avLst/>
          </a:prstGeom>
          <a:solidFill>
            <a:srgbClr val="1E3552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2880360"/>
            <a:ext cx="731520" cy="731520"/>
          </a:xfrm>
          <a:prstGeom prst="rect">
            <a:avLst/>
          </a:prstGeom>
          <a:solidFill>
            <a:srgbClr val="00B4D8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28803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7086600" y="2880360"/>
            <a:ext cx="731520" cy="731520"/>
          </a:xfrm>
          <a:prstGeom prst="rect">
            <a:avLst/>
          </a:prstGeom>
          <a:solidFill>
            <a:srgbClr val="1E3552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63840" y="2880360"/>
            <a:ext cx="731520" cy="731520"/>
          </a:xfrm>
          <a:prstGeom prst="rect">
            <a:avLst/>
          </a:prstGeom>
          <a:solidFill>
            <a:srgbClr val="1E3552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35040" y="37947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7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= cell won by a player</a:t>
            </a:r>
            <a:endParaRPr lang="en-US" sz="85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6" grpId="0" animBg="1"/>
      <p:bldP spid="27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Executable Output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Game — Main Menu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4160520" cy="1536192"/>
          </a:xfrm>
          <a:prstGeom prst="rect">
            <a:avLst/>
          </a:prstGeom>
          <a:solidFill>
            <a:srgbClr val="080F1A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71600"/>
            <a:ext cx="39410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TIC TAC TOE  (N x N)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New Game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Load Saved Game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Choice: _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41605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0241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Game — In Progress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09160" y="1298448"/>
            <a:ext cx="4160520" cy="1536192"/>
          </a:xfrm>
          <a:prstGeom prst="rect">
            <a:avLst/>
          </a:prstGeom>
          <a:solidFill>
            <a:srgbClr val="080F1A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371600"/>
            <a:ext cx="39410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1   2   3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 X |   |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---+---+---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   | O |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---+---+---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   |   |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Player X -&gt; row col (1 to 3): _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3017520"/>
            <a:ext cx="41605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358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— Main Menu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310128"/>
            <a:ext cx="4160520" cy="1536192"/>
          </a:xfrm>
          <a:prstGeom prst="rect">
            <a:avLst/>
          </a:prstGeom>
          <a:solidFill>
            <a:srgbClr val="080F1A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383280"/>
            <a:ext cx="39410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ULTIMATE TIC-TAC-TOE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==========================================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New Game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Load Saved Game (UltimateGame.txt)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Exit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Choose: _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3017520"/>
            <a:ext cx="416052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303580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— Board Display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3310128"/>
            <a:ext cx="4160520" cy="1536192"/>
          </a:xfrm>
          <a:prstGeom prst="rect">
            <a:avLst/>
          </a:prstGeom>
          <a:solidFill>
            <a:srgbClr val="080F1A"/>
          </a:solidFill>
          <a:ln w="635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18888" y="3383280"/>
            <a:ext cx="394106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Board(1,1)   Board(1,2)   Board(1,3)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  ===========  =========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 |        | X|         |  |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 |        |  |O        |  |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 |        |  |         |  |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 Board: [.][.][.]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EE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[.][.][.]  [.][.][.]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b="1" kern="0" spc="2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CONCLUSION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365760" y="347472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 &amp; What We Learned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863840" y="182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321040" y="182880"/>
            <a:ext cx="548640" cy="548640"/>
          </a:xfrm>
          <a:prstGeom prst="ellipse">
            <a:avLst/>
          </a:prstGeom>
          <a:solidFill>
            <a:srgbClr val="000000">
              <a:alpha val="0"/>
            </a:srgbClr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4160520" cy="3566160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05840"/>
            <a:ext cx="416052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515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417320"/>
            <a:ext cx="39319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dynamic 2D char** without memory leaks across constructors &amp; destructor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deep copy to avoid dangling shared pointers between game objects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file I/O operators that serialize and restore exact game state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players to the correct small board based on opponent's last cell selection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Displaying nine 3×3 boards side-by-side in a clean, readable terminal layout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1005840"/>
            <a:ext cx="4160520" cy="3566160"/>
          </a:xfrm>
          <a:prstGeom prst="rect">
            <a:avLst/>
          </a:prstGeom>
          <a:solidFill>
            <a:srgbClr val="182E48"/>
          </a:solidFill>
          <a:ln w="6350">
            <a:solidFill>
              <a:srgbClr val="1E35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005840"/>
            <a:ext cx="41605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05156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93192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of Three: destructor, copy constructor, and assignment operator must all be defined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overloading lets user-defined types behave exactly like built-in types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streams (ofstream / ifstream) enable robust, persistent game state saving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 (ticTacToe board[3][3]) is a clean and powerful OOP design pattern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D0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code (separate .h / .cpp files) greatly improves readability and reuse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1E3552"/>
          </a:solidFill>
          <a:ln w="9525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700016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8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mastery of OOP fundamentals — encapsulation, dynamic memory, operator overloading, file I/O, and composition — through a fully playable game.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9" grpId="0" animBg="1"/>
      <p:bldP spid="10" grpId="0" animBg="1"/>
      <p:bldP spid="13" grpId="0" animBg="1"/>
      <p:bldP spid="14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939</Words>
  <Application>Microsoft Office PowerPoint</Application>
  <PresentationFormat>On-screen Show (16:9)</PresentationFormat>
  <Paragraphs>174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Ultimate Tic-Tac-Toe</dc:title>
  <dc:subject>PptxGenJS Presentation</dc:subject>
  <dc:creator>Khizar Alam</dc:creator>
  <cp:lastModifiedBy>KHIZAR ALAM</cp:lastModifiedBy>
  <cp:revision>2</cp:revision>
  <dcterms:created xsi:type="dcterms:W3CDTF">2026-06-02T04:59:37Z</dcterms:created>
  <dcterms:modified xsi:type="dcterms:W3CDTF">2026-06-02T05:28:15Z</dcterms:modified>
</cp:coreProperties>
</file>